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1A1A1A"/>
                </a:solidFill>
                <a:latin typeface="Arial"/>
              </a:rPr>
              <a:t>JetRover</a:t>
            </a:r>
          </a:p>
          <a:p>
            <a:pPr algn="ctr"/>
            <a:r>
              <a:rPr sz="3000" b="1">
                <a:solidFill>
                  <a:srgbClr val="8C1D2A"/>
                </a:solidFill>
                <a:latin typeface="Arial"/>
              </a:rPr>
              <a:t>A Language-Guided Mobile Manipulator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79476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>
                <a:solidFill>
                  <a:srgbClr val="666666"/>
                </a:solidFill>
                <a:latin typeface="Arial"/>
              </a:rPr>
              <a:t>Closing the perception → planning → action → memory loop on real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22222"/>
                </a:solidFill>
                <a:latin typeface="Arial"/>
              </a:rPr>
              <a:t>[ Your Name ]   ·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4924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666666"/>
                </a:solidFill>
                <a:latin typeface="Arial"/>
              </a:rPr>
              <a:t>Hiwonder JetRover  ·  mecanum base + 5-DOF arm  ·  Orbbec RGB-D camera  ·  ROS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8C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6547104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JetRover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547104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1A1A"/>
                </a:solidFill>
                <a:latin typeface="Arial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222222"/>
                </a:solidFill>
                <a:latin typeface="Arial"/>
              </a:rPr>
              <a:t>“I want a coke — can you get me one?”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017520"/>
            <a:ext cx="9235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  <a:latin typeface="Arial"/>
              </a:rPr>
              <a:t>A useful home / lab robot has to take a vague, natural-language request and carry it out end-to-end — understand it, explore, find the object, and physically fetch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4297680"/>
            <a:ext cx="5760720" cy="1828800"/>
          </a:xfrm>
          <a:prstGeom prst="roundRect">
            <a:avLst/>
          </a:prstGeom>
          <a:solidFill>
            <a:srgbClr val="F3F3F3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0">
                <a:solidFill>
                  <a:srgbClr val="666666"/>
                </a:solidFill>
                <a:latin typeface="Arial"/>
              </a:rPr>
              <a:t>[ scene photo: robot in the room 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8C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6547104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JetRover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547104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1A1A"/>
                </a:solidFill>
                <a:latin typeface="Arial"/>
              </a:rPr>
              <a:t>Why it’s hard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300" b="1">
                <a:solidFill>
                  <a:srgbClr val="222222"/>
                </a:solidFill>
                <a:latin typeface="Arial"/>
              </a:rPr>
              <a:t>•  Long-horizon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666666"/>
                </a:solidFill>
                <a:latin typeface="Arial"/>
              </a:rPr>
              <a:t>     “go to A, then B” — chained navigation + manipulation, not one step</a:t>
            </a:r>
          </a:p>
          <a:p>
            <a:pPr>
              <a:spcAft>
                <a:spcPts val="800"/>
              </a:spcAft>
            </a:pPr>
            <a:r>
              <a:rPr sz="2300" b="1">
                <a:solidFill>
                  <a:srgbClr val="222222"/>
                </a:solidFill>
                <a:latin typeface="Arial"/>
              </a:rPr>
              <a:t>•  Partially observable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666666"/>
                </a:solidFill>
                <a:latin typeface="Arial"/>
              </a:rPr>
              <a:t>     objects and obstacles are unknown until the robot actually sees them</a:t>
            </a:r>
          </a:p>
          <a:p>
            <a:pPr>
              <a:spcAft>
                <a:spcPts val="800"/>
              </a:spcAft>
            </a:pPr>
            <a:r>
              <a:rPr sz="2300" b="1">
                <a:solidFill>
                  <a:srgbClr val="222222"/>
                </a:solidFill>
                <a:latin typeface="Arial"/>
              </a:rPr>
              <a:t>•  Real hardware, not simulation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666666"/>
                </a:solidFill>
                <a:latin typeface="Arial"/>
              </a:rPr>
              <a:t>     noisy depth, reflective / transparent objects, limited arm reach</a:t>
            </a:r>
          </a:p>
          <a:p>
            <a:pPr>
              <a:spcAft>
                <a:spcPts val="800"/>
              </a:spcAft>
            </a:pPr>
            <a:r>
              <a:rPr sz="2300" b="1">
                <a:solidFill>
                  <a:srgbClr val="222222"/>
                </a:solidFill>
                <a:latin typeface="Arial"/>
              </a:rPr>
              <a:t>•  One closed loop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666666"/>
                </a:solidFill>
                <a:latin typeface="Arial"/>
              </a:rPr>
              <a:t>     language → navigation → perception → grasp → memory, all tied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8C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6547104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JetRover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547104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1A1A"/>
                </a:solidFill>
                <a:latin typeface="Arial"/>
              </a:rPr>
              <a:t>The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2222"/>
                </a:solidFill>
                <a:latin typeface="Arial"/>
              </a:rPr>
              <a:t>•  Mobile base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666666"/>
                </a:solidFill>
                <a:latin typeface="Arial"/>
              </a:rPr>
              <a:t>     4-wheel mecanum — omnidirectional driving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2222"/>
                </a:solidFill>
                <a:latin typeface="Arial"/>
              </a:rPr>
              <a:t>•  Arm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666666"/>
                </a:solidFill>
                <a:latin typeface="Arial"/>
              </a:rPr>
              <a:t>     5-DOF manipulator + parallel gripper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2222"/>
                </a:solidFill>
                <a:latin typeface="Arial"/>
              </a:rPr>
              <a:t>•  Sensing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666666"/>
                </a:solidFill>
                <a:latin typeface="Arial"/>
              </a:rPr>
              <a:t>     Orbbec DaBai DCW RGB-D depth camera (eye-in-hand)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2222"/>
                </a:solidFill>
                <a:latin typeface="Arial"/>
              </a:rPr>
              <a:t>•  Compute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666666"/>
                </a:solidFill>
                <a:latin typeface="Arial"/>
              </a:rPr>
              <a:t>     onboard Jetson, ROS control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0" y="1737360"/>
            <a:ext cx="4846320" cy="4114800"/>
          </a:xfrm>
          <a:prstGeom prst="roundRect">
            <a:avLst/>
          </a:prstGeom>
          <a:solidFill>
            <a:srgbClr val="F3F3F3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0">
                <a:solidFill>
                  <a:srgbClr val="666666"/>
                </a:solidFill>
                <a:latin typeface="Arial"/>
              </a:rPr>
              <a:t>[ robot photo 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8C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6547104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JetRover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547104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1A1A"/>
                </a:solidFill>
                <a:latin typeface="Arial"/>
              </a:rP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697480" y="1005840"/>
            <a:ext cx="2286000" cy="566928"/>
          </a:xfrm>
          <a:prstGeom prst="roundRect">
            <a:avLst/>
          </a:prstGeom>
          <a:solidFill>
            <a:srgbClr val="DAE8FC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0">
                <a:solidFill>
                  <a:srgbClr val="222222"/>
                </a:solidFill>
                <a:latin typeface="Arial"/>
              </a:rPr>
              <a:t>Instruction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005840"/>
            <a:ext cx="2377440" cy="566928"/>
          </a:xfrm>
          <a:prstGeom prst="roundRect">
            <a:avLst/>
          </a:prstGeom>
          <a:solidFill>
            <a:srgbClr val="E6DAF2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</a:rPr>
              <a:t>Observations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</a:rPr>
              <a:t>(RGB-D + odometry)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97480" y="1874519"/>
            <a:ext cx="2286000" cy="621792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600" b="1">
                <a:solidFill>
                  <a:srgbClr val="222222"/>
                </a:solidFill>
                <a:latin typeface="Arial"/>
              </a:rPr>
              <a:t>LLM Planner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2761488"/>
            <a:ext cx="2286000" cy="530352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222222"/>
                </a:solidFill>
                <a:latin typeface="Arial"/>
              </a:rPr>
              <a:t>Subtask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3566160"/>
            <a:ext cx="2286000" cy="603504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222222"/>
                </a:solidFill>
                <a:latin typeface="Arial"/>
              </a:rPr>
              <a:t>Skill Executor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4526280"/>
            <a:ext cx="1783080" cy="566928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</a:rPr>
              <a:t>Navigation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</a:rPr>
              <a:t>(SLAM + Nav2)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4526280"/>
            <a:ext cx="1783080" cy="566928"/>
          </a:xfrm>
          <a:prstGeom prst="roundRect">
            <a:avLst/>
          </a:prstGeom>
          <a:solidFill>
            <a:srgbClr val="F5C6D0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</a:rPr>
              <a:t>Depth Grasping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</a:rPr>
              <a:t>(hand-eye + IK)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5413248"/>
            <a:ext cx="3017520" cy="502920"/>
          </a:xfrm>
          <a:prstGeom prst="roundRect">
            <a:avLst/>
          </a:prstGeom>
          <a:solidFill>
            <a:srgbClr val="FCE5CD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0">
                <a:solidFill>
                  <a:srgbClr val="222222"/>
                </a:solidFill>
                <a:latin typeface="Arial"/>
              </a:rPr>
              <a:t>Controller  /  ROS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6053328"/>
            <a:ext cx="3017520" cy="457200"/>
          </a:xfrm>
          <a:prstGeom prst="roundRect">
            <a:avLst/>
          </a:prstGeom>
          <a:solidFill>
            <a:srgbClr val="F5C6D0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0">
                <a:solidFill>
                  <a:srgbClr val="222222"/>
                </a:solidFill>
                <a:latin typeface="Arial"/>
              </a:rPr>
              <a:t>Robot  +  Sensors   (Environment)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3566160"/>
            <a:ext cx="2286000" cy="603504"/>
          </a:xfrm>
          <a:prstGeom prst="roundRect">
            <a:avLst/>
          </a:prstGeom>
          <a:solidFill>
            <a:srgbClr val="FFE599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</a:rPr>
              <a:t>Perception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</a:rPr>
              <a:t>(depth → object pose)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651760"/>
            <a:ext cx="2286000" cy="566928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222222"/>
                </a:solidFill>
                <a:latin typeface="Arial"/>
              </a:rPr>
              <a:t>Memory: bottles.yaml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40480" y="1572768"/>
            <a:ext cx="0" cy="301751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840480" y="2496312"/>
            <a:ext cx="0" cy="265176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840480" y="3291840"/>
            <a:ext cx="0" cy="27432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313432" y="4169663"/>
            <a:ext cx="1069848" cy="356617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297680" y="4169663"/>
            <a:ext cx="1069848" cy="356617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313432" y="5093208"/>
            <a:ext cx="704088" cy="32004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4663440" y="5093208"/>
            <a:ext cx="704088" cy="32004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840480" y="5916168"/>
            <a:ext cx="0" cy="13716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349240" y="6281928"/>
            <a:ext cx="338328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732520" y="4169663"/>
            <a:ext cx="0" cy="2112265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732520" y="3218688"/>
            <a:ext cx="0" cy="347472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4983480" y="2331720"/>
            <a:ext cx="2606040" cy="603504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4983480" y="1289304"/>
            <a:ext cx="2514599" cy="722376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703320" y="25146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59893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obs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3317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Arial"/>
              </a:rPr>
              <a:t>re-plan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1828800"/>
            <a:ext cx="21488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</a:rPr>
              <a:t>LLM decomposes the instruction into ordered subtasks and re-plans as new objects are seen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12680" y="3429000"/>
            <a:ext cx="1874519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</a:rPr>
              <a:t>Depth + detection turn raw RGB-D into 3-D object poses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12680" y="2331720"/>
            <a:ext cx="1874519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</a:rPr>
              <a:t>Detections persist to bottles.yaml → long-horizon, resumable tasks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8C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" y="6547104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JetRover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5855" y="6547104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FFFFF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1A1A"/>
                </a:solidFill>
                <a:latin typeface="Arial"/>
              </a:rPr>
              <a:t>Navigation: long-horizon &amp; map-aware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22222"/>
                </a:solidFill>
                <a:latin typeface="Arial"/>
              </a:rPr>
              <a:t>•  SLAM + Nav2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666666"/>
                </a:solidFill>
                <a:latin typeface="Arial"/>
              </a:rPr>
              <a:t>     Hector SLAM builds the map; Nav2 plans and drives to goals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22222"/>
                </a:solidFill>
                <a:latin typeface="Arial"/>
              </a:rPr>
              <a:t>•  Multi-hop goals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666666"/>
                </a:solidFill>
                <a:latin typeface="Arial"/>
              </a:rPr>
              <a:t>     “go to A, then B” verified on hardware — two hops, both reached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22222"/>
                </a:solidFill>
                <a:latin typeface="Arial"/>
              </a:rPr>
              <a:t>•  Reactive to the world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666666"/>
                </a:solidFill>
                <a:latin typeface="Arial"/>
              </a:rPr>
              <a:t>     obstacles that enter the map are planned around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22222"/>
                </a:solidFill>
                <a:latin typeface="Arial"/>
              </a:rPr>
              <a:t>•  Tuned for the real bot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666666"/>
                </a:solidFill>
                <a:latin typeface="Arial"/>
              </a:rPr>
              <a:t>     throttled teleop + path-bias tuning to stay stable, avoid map corruption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0" y="1737360"/>
            <a:ext cx="4846320" cy="4114800"/>
          </a:xfrm>
          <a:prstGeom prst="roundRect">
            <a:avLst/>
          </a:prstGeom>
          <a:solidFill>
            <a:srgbClr val="F3F3F3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0">
                <a:solidFill>
                  <a:srgbClr val="666666"/>
                </a:solidFill>
                <a:latin typeface="Arial"/>
              </a:rPr>
              <a:t>[ rviz map / trajectory screenshot 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8C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6547104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JetRover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547104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FFFFF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1A1A"/>
                </a:solidFill>
                <a:latin typeface="Arial"/>
              </a:rPr>
              <a:t>Depth-based Grasping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222222"/>
                </a:solidFill>
                <a:latin typeface="Arial"/>
              </a:rPr>
              <a:t>•  Pipeline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666666"/>
                </a:solidFill>
                <a:latin typeface="Arial"/>
              </a:rPr>
              <a:t>     RGB-D → object detection → hand-eye (eye-in-hand) → IK → approach / descend / close / lift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22222"/>
                </a:solidFill>
                <a:latin typeface="Arial"/>
              </a:rPr>
              <a:t>•  First pick on hardware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666666"/>
                </a:solidFill>
                <a:latin typeface="Arial"/>
              </a:rPr>
              <a:t>     lifted a wrapped can off the table end-to-end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22222"/>
                </a:solidFill>
                <a:latin typeface="Arial"/>
              </a:rPr>
              <a:t>•  Hard problems solved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666666"/>
                </a:solidFill>
                <a:latin typeface="Arial"/>
              </a:rPr>
              <a:t>     in-process FK/IK when the vendor IK service returned no solution; nav + grasp share one control node without contending for the serial bus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22222"/>
                </a:solidFill>
                <a:latin typeface="Arial"/>
              </a:rPr>
              <a:t>•  Open challenge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666666"/>
                </a:solidFill>
                <a:latin typeface="Arial"/>
              </a:rPr>
              <a:t>     reflective / transparent bottles lose depth — robust depth sampling in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0" y="1737360"/>
            <a:ext cx="4663440" cy="4114800"/>
          </a:xfrm>
          <a:prstGeom prst="roundRect">
            <a:avLst/>
          </a:prstGeom>
          <a:solidFill>
            <a:srgbClr val="F3F3F3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0">
                <a:solidFill>
                  <a:srgbClr val="666666"/>
                </a:solidFill>
                <a:latin typeface="Arial"/>
              </a:rPr>
              <a:t>[ grasp photo / depth view 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8C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6547104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JetRover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547104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FFFFF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1A1A"/>
                </a:solidFill>
                <a:latin typeface="Arial"/>
              </a:rPr>
              <a:t>Memory closes the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300" b="1">
                <a:solidFill>
                  <a:srgbClr val="222222"/>
                </a:solidFill>
                <a:latin typeface="Arial"/>
              </a:rPr>
              <a:t>•  Persist what you see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666666"/>
                </a:solidFill>
                <a:latin typeface="Arial"/>
              </a:rPr>
              <a:t>     every detected object is written to bottles.yaml with its pose</a:t>
            </a:r>
          </a:p>
          <a:p>
            <a:pPr>
              <a:spcAft>
                <a:spcPts val="1200"/>
              </a:spcAft>
            </a:pPr>
            <a:r>
              <a:rPr sz="2300" b="1">
                <a:solidFill>
                  <a:srgbClr val="222222"/>
                </a:solidFill>
                <a:latin typeface="Arial"/>
              </a:rPr>
              <a:t>•  Plan over memory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666666"/>
                </a:solidFill>
                <a:latin typeface="Arial"/>
              </a:rPr>
              <a:t>     the LLM filters candidates and orders multi-point navigation to collect them</a:t>
            </a:r>
          </a:p>
          <a:p>
            <a:pPr>
              <a:spcAft>
                <a:spcPts val="1200"/>
              </a:spcAft>
            </a:pPr>
            <a:r>
              <a:rPr sz="2300" b="1">
                <a:solidFill>
                  <a:srgbClr val="222222"/>
                </a:solidFill>
                <a:latin typeface="Arial"/>
              </a:rPr>
              <a:t>•  Why it matters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666666"/>
                </a:solidFill>
                <a:latin typeface="Arial"/>
              </a:rPr>
              <a:t>     this is what turns one-shot reactions into long-horizon, resumable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0" y="4480560"/>
            <a:ext cx="5943600" cy="1554480"/>
          </a:xfrm>
          <a:prstGeom prst="roundRect">
            <a:avLst/>
          </a:prstGeom>
          <a:solidFill>
            <a:srgbClr val="F3F3F3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0">
                <a:solidFill>
                  <a:srgbClr val="666666"/>
                </a:solidFill>
                <a:latin typeface="Arial"/>
              </a:rPr>
              <a:t>[ bottles.yaml → planned route diagram 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8C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6547104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JetRover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547104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FFFFF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1A1A"/>
                </a:solidFill>
                <a:latin typeface="Arial"/>
              </a:rPr>
              <a:t>Experiments — 5-bottle task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5120640" cy="1737360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/>
            <a:r>
              <a:rPr sz="1700" b="0">
                <a:solidFill>
                  <a:srgbClr val="222222"/>
                </a:solidFill>
                <a:latin typeface="Arial"/>
              </a:rPr>
              <a:t>Experiment A  —  targeted collection</a:t>
            </a:r>
          </a:p>
          <a:p>
            <a:pPr algn="l"/>
            <a:r>
              <a:rPr sz="1700" b="0">
                <a:solidFill>
                  <a:srgbClr val="222222"/>
                </a:solidFill>
                <a:latin typeface="Arial"/>
              </a:rPr>
              <a:t/>
            </a:r>
          </a:p>
          <a:p>
            <a:pPr algn="l"/>
            <a:r>
              <a:rPr sz="1700" b="0">
                <a:solidFill>
                  <a:srgbClr val="222222"/>
                </a:solidFill>
                <a:latin typeface="Arial"/>
              </a:rPr>
              <a:t>Task: fetch all the Coke bottles</a:t>
            </a:r>
          </a:p>
          <a:p>
            <a:pPr algn="l"/>
            <a:r>
              <a:rPr sz="1700" b="0">
                <a:solidFill>
                  <a:srgbClr val="222222"/>
                </a:solidFill>
                <a:latin typeface="Arial"/>
              </a:rPr>
              <a:t/>
            </a:r>
          </a:p>
          <a:p>
            <a:pPr algn="l"/>
            <a:r>
              <a:rPr sz="1700" b="0">
                <a:solidFill>
                  <a:srgbClr val="222222"/>
                </a:solidFill>
                <a:latin typeface="Arial"/>
              </a:rPr>
              <a:t>Result:  3 / 3 collected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828800"/>
            <a:ext cx="5120640" cy="1737360"/>
          </a:xfrm>
          <a:prstGeom prst="roundRect">
            <a:avLst/>
          </a:prstGeom>
          <a:solidFill>
            <a:srgbClr val="DAE8FC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/>
            <a:r>
              <a:rPr sz="1700" b="0">
                <a:solidFill>
                  <a:srgbClr val="222222"/>
                </a:solidFill>
                <a:latin typeface="Arial"/>
              </a:rPr>
              <a:t>Experiment B  —  full patrol</a:t>
            </a:r>
          </a:p>
          <a:p>
            <a:pPr algn="l"/>
            <a:r>
              <a:rPr sz="1700" b="0">
                <a:solidFill>
                  <a:srgbClr val="222222"/>
                </a:solidFill>
                <a:latin typeface="Arial"/>
              </a:rPr>
              <a:t/>
            </a:r>
          </a:p>
          <a:p>
            <a:pPr algn="l"/>
            <a:r>
              <a:rPr sz="1700" b="0">
                <a:solidFill>
                  <a:srgbClr val="222222"/>
                </a:solidFill>
                <a:latin typeface="Arial"/>
              </a:rPr>
              <a:t>Task: visit and log every bottle</a:t>
            </a:r>
          </a:p>
          <a:p>
            <a:pPr algn="l"/>
            <a:r>
              <a:rPr sz="1700" b="0">
                <a:solidFill>
                  <a:srgbClr val="222222"/>
                </a:solidFill>
                <a:latin typeface="Arial"/>
              </a:rPr>
              <a:t/>
            </a:r>
          </a:p>
          <a:p>
            <a:pPr algn="l"/>
            <a:r>
              <a:rPr sz="1700" b="0">
                <a:solidFill>
                  <a:srgbClr val="222222"/>
                </a:solidFill>
                <a:latin typeface="Arial"/>
              </a:rPr>
              <a:t>Result:  5 / 5 found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31920"/>
            <a:ext cx="10561320" cy="155448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/>
            <a:r>
              <a:rPr sz="1800" b="0">
                <a:solidFill>
                  <a:srgbClr val="222222"/>
                </a:solidFill>
                <a:latin typeface="Arial"/>
              </a:rPr>
              <a:t>Milestone (2026-07-08):  first full  perception → planning → action → memory  loop running on the real robot — LLM candidate filtering + multi-point navigation + on-disk memory.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8C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6547104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JetRover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547104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FFFFF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1A1A"/>
                </a:solidFill>
                <a:latin typeface="Arial"/>
              </a:rPr>
              <a:t>Demo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5120640" cy="3840480"/>
          </a:xfrm>
          <a:prstGeom prst="roundRect">
            <a:avLst/>
          </a:prstGeom>
          <a:solidFill>
            <a:srgbClr val="F3F3F3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0">
                <a:solidFill>
                  <a:srgbClr val="666666"/>
                </a:solidFill>
                <a:latin typeface="Arial"/>
              </a:rPr>
              <a:t>[ video / GIF ]</a:t>
            </a:r>
          </a:p>
          <a:p>
            <a:pPr algn="ctr"/>
            <a:r>
              <a:rPr sz="1400" b="0">
                <a:solidFill>
                  <a:srgbClr val="666666"/>
                </a:solidFill>
                <a:latin typeface="Arial"/>
              </a:rPr>
              <a:t>Exp A — collect Coke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828800"/>
            <a:ext cx="5120640" cy="3840480"/>
          </a:xfrm>
          <a:prstGeom prst="roundRect">
            <a:avLst/>
          </a:prstGeom>
          <a:solidFill>
            <a:srgbClr val="F3F3F3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0">
                <a:solidFill>
                  <a:srgbClr val="666666"/>
                </a:solidFill>
                <a:latin typeface="Arial"/>
              </a:rPr>
              <a:t>[ video / GIF ]</a:t>
            </a:r>
          </a:p>
          <a:p>
            <a:pPr algn="ctr"/>
            <a:r>
              <a:rPr sz="1400" b="0">
                <a:solidFill>
                  <a:srgbClr val="666666"/>
                </a:solidFill>
                <a:latin typeface="Arial"/>
              </a:rPr>
              <a:t>Exp B — patrol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8C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6547104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JetRover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547104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FFFFF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1A1A"/>
                </a:solidFill>
                <a:latin typeface="Arial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1">
                <a:solidFill>
                  <a:srgbClr val="222222"/>
                </a:solidFill>
                <a:latin typeface="Arial"/>
              </a:rPr>
              <a:t>•  Full-stack robotics, on real hardware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Arial"/>
              </a:rPr>
              <a:t>     ROS, Hector SLAM + Nav2, hand-eye calibration, LLM planning + memory, systems debugging</a:t>
            </a:r>
          </a:p>
          <a:p>
            <a:pPr>
              <a:spcAft>
                <a:spcPts val="1000"/>
              </a:spcAft>
            </a:pPr>
            <a:r>
              <a:rPr sz="2100" b="1">
                <a:solidFill>
                  <a:srgbClr val="222222"/>
                </a:solidFill>
                <a:latin typeface="Arial"/>
              </a:rPr>
              <a:t>•  Hardest wins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Arial"/>
              </a:rPr>
              <a:t>     nav + grasp coexistence on a single control node; in-process IK; robust depth on tough surfaces</a:t>
            </a:r>
          </a:p>
          <a:p>
            <a:pPr>
              <a:spcAft>
                <a:spcPts val="1000"/>
              </a:spcAft>
            </a:pPr>
            <a:r>
              <a:rPr sz="2100" b="1">
                <a:solidFill>
                  <a:srgbClr val="222222"/>
                </a:solidFill>
                <a:latin typeface="Arial"/>
              </a:rPr>
              <a:t>•  Honest next steps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Arial"/>
              </a:rPr>
              <a:t>     reliable grasp on reflective bottles; tighter reach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8C1D2A"/>
                </a:solidFill>
                <a:latin typeface="Arial"/>
              </a:rPr>
              <a:t>[ your email ]   ·   [ github / demo link 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8C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6547104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JetRover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547104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FFFFF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